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5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3" r:id="rId14"/>
    <p:sldId id="269" r:id="rId15"/>
    <p:sldId id="270" r:id="rId16"/>
    <p:sldId id="271" r:id="rId17"/>
    <p:sldId id="274" r:id="rId18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2651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534987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535775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88209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2791814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357042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96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65219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78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3FB24E-C8DC-A477-8B6C-17E3D3713E7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91678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78587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453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66EB4F-853C-936C-D970-C519A2BF879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2989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72278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870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1A281C-7850-FEEF-8AE1-6E9FB5B0B89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2273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0500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8704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00F6FB-251D-0E44-14BC-D8FB42BDB8C6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00736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56939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5698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E1E97-7102-383D-DC37-6CEC1F7D24A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62384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81717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500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C2921C-1A2C-914A-8549-68A508061AF1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46586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8237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3343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9B1191-6483-E86C-E930-07A63EF30C2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53645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799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897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ABF1E8-DF2E-3C14-ACC7-4E68E6630A55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8280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1016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627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A35E4E-0B27-6D08-11FD-07FF8AF7145E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50313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8808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363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348A5F-9230-ED26-40B2-E39F5DAED331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76347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2780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739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12B651-FA95-4B18-8A29-2443BE3F02D3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56408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1027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68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BE4E68-36D1-DB44-619B-13E83387E100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85237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80711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00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E82812-39F0-12C2-3995-97078158F051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2629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59059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935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49F82C-620D-8754-DE84-147AF0BE3619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793184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6908601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18320442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565745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91204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2124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252643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2134208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8836031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6038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98002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59296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8512538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12620138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57421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7655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7144761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15410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814899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11040906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3269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4284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7481823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7758065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9945049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32606918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7969375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12129272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4114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0636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5131000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65437363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39904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1397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5466325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40665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876277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5410079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8389883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3104620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13275572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170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315154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30289254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t>Click icon to add picture</a:t>
            </a:r>
          </a:p>
        </p:txBody>
      </p:sp>
      <p:sp>
        <p:nvSpPr>
          <p:cNvPr id="8628877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9280863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11112760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2135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8229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6426849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005931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15463213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4764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71392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2076899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8280701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17727569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14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3346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669786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37518706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8/5/2026</a:t>
            </a:fld>
            <a:endParaRPr/>
          </a:p>
        </p:txBody>
      </p:sp>
      <p:sp>
        <p:nvSpPr>
          <p:cNvPr id="20333905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058951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41D98-F941-70A2-39C5-1C57BE13053E}"/>
              </a:ext>
            </a:extLst>
          </p:cNvPr>
          <p:cNvSpPr txBox="1"/>
          <p:nvPr/>
        </p:nvSpPr>
        <p:spPr>
          <a:xfrm>
            <a:off x="3047238" y="3044280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0" u="none" strike="noStrike" dirty="0">
                <a:solidFill>
                  <a:schemeClr val="dk1"/>
                </a:solidFill>
                <a:latin typeface="Calibri"/>
              </a:rPr>
              <a:t>Hospital Appointment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8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971476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  <a:defRPr/>
            </a:pPr>
            <a:br>
              <a:rPr lang="en" sz="3300" b="0" u="none" strike="noStrike" dirty="0">
                <a:solidFill>
                  <a:schemeClr val="dk1"/>
                </a:solidFill>
                <a:latin typeface="Aptos Display"/>
              </a:rPr>
            </a:br>
            <a:r>
              <a:rPr lang="en" sz="3300" b="0" u="none" strike="noStrike" dirty="0">
                <a:solidFill>
                  <a:schemeClr val="dk1"/>
                </a:solidFill>
                <a:latin typeface="Aptos Display"/>
              </a:rPr>
              <a:t>Team Information</a:t>
            </a:r>
            <a:endParaRPr lang="en-US" sz="3300" b="0" u="none" strike="noStrike" dirty="0">
              <a:solidFill>
                <a:schemeClr val="dk1"/>
              </a:solidFill>
              <a:latin typeface="Aptos"/>
            </a:endParaRPr>
          </a:p>
        </p:txBody>
      </p:sp>
      <p:sp>
        <p:nvSpPr>
          <p:cNvPr id="1597681275" name="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514350" indent="-342900">
              <a:lnSpc>
                <a:spcPct val="90000"/>
              </a:lnSpc>
              <a:spcBef>
                <a:spcPts val="1198"/>
              </a:spcBef>
              <a:spcAft>
                <a:spcPts val="1198"/>
              </a:spcAft>
              <a:buFont typeface="+mj-lt"/>
              <a:buAutoNum type="arabicPeriod"/>
              <a:tabLst>
                <a:tab pos="0" algn="l"/>
              </a:tabLst>
              <a:defRPr/>
            </a:pPr>
            <a:r>
              <a:rPr lang="en-US" sz="1800" b="0" u="none" strike="noStrike" dirty="0">
                <a:solidFill>
                  <a:schemeClr val="dk1"/>
                </a:solidFill>
                <a:latin typeface="Aptos"/>
              </a:rPr>
              <a:t>Sandip Limbasiya - 92400527173</a:t>
            </a:r>
          </a:p>
        </p:txBody>
      </p:sp>
      <p:pic>
        <p:nvPicPr>
          <p:cNvPr id="199334825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8" y="173073"/>
            <a:ext cx="2146298" cy="71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635799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2" y="259431"/>
            <a:ext cx="2323253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732704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 dirty="0">
                <a:solidFill>
                  <a:schemeClr val="dk1"/>
                </a:solidFill>
                <a:latin typeface="Calibri"/>
              </a:rPr>
              <a:t>Problem Statement</a:t>
            </a:r>
          </a:p>
        </p:txBody>
      </p:sp>
      <p:sp>
        <p:nvSpPr>
          <p:cNvPr id="252262133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Long waiting queues &amp; repeated phone calls for booking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Paper registers / spreadsheets → lost records &amp; double bookings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No real-time doctor availability check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Staff overloaded with manual coordination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No appointment status tracking (pending/approved/rejected)</a:t>
            </a:r>
          </a:p>
        </p:txBody>
      </p:sp>
      <p:pic>
        <p:nvPicPr>
          <p:cNvPr id="1653424407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280208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692865" name="PlaceHolder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defTabSz="685800">
              <a:lnSpc>
                <a:spcPct val="90000"/>
              </a:lnSpc>
              <a:buNone/>
              <a:tabLst>
                <a:tab pos="0" algn="l"/>
              </a:tabLst>
              <a:defRPr/>
            </a:pPr>
            <a:br>
              <a:rPr lang="en" sz="2600" b="0" u="none" strike="noStrike" dirty="0">
                <a:solidFill>
                  <a:schemeClr val="dk1"/>
                </a:solidFill>
                <a:latin typeface="Aptos Display"/>
              </a:rPr>
            </a:br>
            <a:r>
              <a:rPr lang="en" sz="2600" b="0" u="none" strike="noStrike" dirty="0">
                <a:solidFill>
                  <a:schemeClr val="dk1"/>
                </a:solidFill>
                <a:latin typeface="Aptos Display"/>
              </a:rPr>
              <a:t>Proposed Solution: Overview</a:t>
            </a:r>
            <a:endParaRPr lang="en-US" sz="2600" b="0" u="none" strike="noStrike" dirty="0">
              <a:solidFill>
                <a:schemeClr val="dk1"/>
              </a:solidFill>
              <a:latin typeface="Aptos"/>
            </a:endParaRPr>
          </a:p>
        </p:txBody>
      </p:sp>
      <p:sp>
        <p:nvSpPr>
          <p:cNvPr id="1402483604" name="PlaceHolder 2"/>
          <p:cNvSpPr>
            <a:spLocks noGrp="1"/>
          </p:cNvSpPr>
          <p:nvPr>
            <p:ph idx="1"/>
          </p:nvPr>
        </p:nvSpPr>
        <p:spPr bwMode="auto">
          <a:xfrm>
            <a:off x="1451579" y="2015731"/>
            <a:ext cx="9603274" cy="21512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285750">
              <a:tabLst>
                <a:tab pos="0" algn="l"/>
              </a:tabLst>
              <a:defRPr/>
            </a:pPr>
            <a:r>
              <a:rPr lang="en-US" sz="2200" dirty="0">
                <a:solidFill>
                  <a:schemeClr val="dk1"/>
                </a:solidFill>
                <a:latin typeface="Aptos"/>
              </a:rPr>
              <a:t> Web-Based Platform: Online appointment booking accessible from any device with internet</a:t>
            </a:r>
          </a:p>
          <a:p>
            <a:pPr marL="457200" indent="-285750">
              <a:tabLst>
                <a:tab pos="0" algn="l"/>
              </a:tabLst>
              <a:defRPr/>
            </a:pPr>
            <a:r>
              <a:rPr lang="en-US" sz="2200" dirty="0">
                <a:solidFill>
                  <a:schemeClr val="dk1"/>
                </a:solidFill>
                <a:latin typeface="Aptos"/>
              </a:rPr>
              <a:t> Role-Based System: Two user roles -Admin (hospital staff) and Patient (general users)</a:t>
            </a:r>
          </a:p>
          <a:p>
            <a:pPr marL="457200" indent="-285750">
              <a:tabLst>
                <a:tab pos="0" algn="l"/>
              </a:tabLst>
              <a:defRPr/>
            </a:pPr>
            <a:r>
              <a:rPr lang="en-US" sz="2200" dirty="0">
                <a:solidFill>
                  <a:schemeClr val="dk1"/>
                </a:solidFill>
                <a:latin typeface="Aptos"/>
              </a:rPr>
              <a:t> Doctor Panel: Admin can Add/Edit/Delete doctors with specialization, fee, and availability</a:t>
            </a:r>
            <a:endParaRPr lang="en-US" sz="2200" b="0" u="none" strike="noStrike" dirty="0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83900919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8" y="173073"/>
            <a:ext cx="2146298" cy="71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037503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2" y="259431"/>
            <a:ext cx="2323253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504492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 dirty="0">
                <a:solidFill>
                  <a:schemeClr val="dk1"/>
                </a:solidFill>
                <a:latin typeface="Calibri"/>
              </a:rPr>
              <a:t>Objectives</a:t>
            </a:r>
          </a:p>
        </p:txBody>
      </p:sp>
      <p:sp>
        <p:nvSpPr>
          <p:cNvPr id="331225765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lang="en-US" sz="2200">
                <a:solidFill>
                  <a:schemeClr val="dk1"/>
                </a:solidFill>
                <a:latin typeface="Calibri"/>
              </a:rPr>
              <a:t>Appointment </a:t>
            </a:r>
            <a:r>
              <a:rPr lang="en-US" sz="2200" dirty="0">
                <a:solidFill>
                  <a:schemeClr val="dk1"/>
                </a:solidFill>
                <a:latin typeface="Calibri"/>
              </a:rPr>
              <a:t>Booking</a:t>
            </a:r>
          </a:p>
          <a:p>
            <a:pPr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• </a:t>
            </a:r>
            <a:r>
              <a:rPr lang="en-US" sz="2200" dirty="0">
                <a:solidFill>
                  <a:schemeClr val="dk1"/>
                </a:solidFill>
                <a:latin typeface="Calibri"/>
              </a:rPr>
              <a:t>User Authentication</a:t>
            </a:r>
          </a:p>
          <a:p>
            <a:pPr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• </a:t>
            </a:r>
            <a:r>
              <a:rPr lang="en-US" sz="2200" dirty="0">
                <a:solidFill>
                  <a:schemeClr val="dk1"/>
                </a:solidFill>
                <a:latin typeface="Calibri"/>
              </a:rPr>
              <a:t>Doctor Management</a:t>
            </a:r>
          </a:p>
          <a:p>
            <a:pPr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• </a:t>
            </a:r>
            <a:r>
              <a:rPr lang="en-US" sz="2200" dirty="0">
                <a:solidFill>
                  <a:schemeClr val="dk1"/>
                </a:solidFill>
                <a:latin typeface="Calibri"/>
              </a:rPr>
              <a:t>Status Management</a:t>
            </a:r>
          </a:p>
          <a:p>
            <a:pPr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• Responsive UI</a:t>
            </a: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39825943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1176873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843780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Server Requirements</a:t>
            </a:r>
          </a:p>
        </p:txBody>
      </p:sp>
      <p:sp>
        <p:nvSpPr>
          <p:cNvPr id="697369764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None/>
              <a:defRPr/>
            </a:pP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Software: XAMPP / </a:t>
            </a:r>
            <a:r>
              <a:rPr lang="en-US" sz="2200" dirty="0" err="1">
                <a:solidFill>
                  <a:schemeClr val="dk1"/>
                </a:solidFill>
                <a:latin typeface="Calibri"/>
              </a:rPr>
              <a:t>Laragon</a:t>
            </a:r>
            <a:r>
              <a:rPr lang="en-US" sz="2200" dirty="0">
                <a:solidFill>
                  <a:schemeClr val="dk1"/>
                </a:solidFill>
                <a:latin typeface="Calibri"/>
              </a:rPr>
              <a:t>- PHP Version: PHP 7.4+ or PHP 8.0+ 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Code Editor: VS Code 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Version Control: GitHub</a:t>
            </a: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05609971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7053093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1792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Technology Stack</a:t>
            </a:r>
          </a:p>
        </p:txBody>
      </p:sp>
      <p:sp>
        <p:nvSpPr>
          <p:cNvPr id="109256966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Frontend: HTML5, CSS3, JavaScript 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Backend</a:t>
            </a: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: PHP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Database: MySQL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Tools: VS Code, phpMyAdmin</a:t>
            </a: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02523940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6137829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28439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End User Interface</a:t>
            </a:r>
          </a:p>
        </p:txBody>
      </p:sp>
      <p:sp>
        <p:nvSpPr>
          <p:cNvPr id="1611917439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Responsive HTML5 interface with a clean and modern design.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Bootstrap 5 is used for a mobile-friendly and responsive layout.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Simple booking forms and user-friendly dashboards. </a:t>
            </a:r>
          </a:p>
        </p:txBody>
      </p:sp>
      <p:pic>
        <p:nvPicPr>
          <p:cNvPr id="1452522472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435712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6AC04D-2C40-8AA2-F252-046A6316E6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37" y="3760567"/>
            <a:ext cx="5735960" cy="28067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8C2C80-2415-F0AD-4DEA-656850C0EF9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704" y="3769735"/>
            <a:ext cx="5951984" cy="29248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713858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Admin Dashboard</a:t>
            </a:r>
          </a:p>
        </p:txBody>
      </p:sp>
      <p:sp>
        <p:nvSpPr>
          <p:cNvPr id="56470971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 defTabSz="457200">
              <a:lnSpc>
                <a:spcPct val="150000"/>
              </a:lnSpc>
              <a:spcBef>
                <a:spcPts val="439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Dashboard</a:t>
            </a:r>
            <a:r>
              <a:rPr lang="en-US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monitor overall system activity. </a:t>
            </a:r>
            <a:endParaRPr lang="en-US" sz="2200" b="0" u="none" strike="noStrik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457200">
              <a:lnSpc>
                <a:spcPct val="150000"/>
              </a:lnSpc>
              <a:spcBef>
                <a:spcPts val="439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Management</a:t>
            </a:r>
            <a:r>
              <a:rPr lang="en-US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Manage user accounts and details. </a:t>
            </a:r>
            <a:endParaRPr lang="en-US" sz="2200" b="0" u="none" strike="noStrik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457200">
              <a:lnSpc>
                <a:spcPct val="150000"/>
              </a:lnSpc>
              <a:spcBef>
                <a:spcPts val="439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Reports</a:t>
            </a:r>
            <a:r>
              <a:rPr lang="en-US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View Appointment booking and system reports</a:t>
            </a:r>
          </a:p>
          <a:p>
            <a:pPr marL="342900" indent="-342900" defTabSz="457200">
              <a:lnSpc>
                <a:spcPct val="150000"/>
              </a:lnSpc>
              <a:spcBef>
                <a:spcPts val="439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2200" b="1" u="none" strike="noStrik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CRUD</a:t>
            </a:r>
            <a:r>
              <a:rPr lang="en-US" sz="2200" b="0" u="none" strike="noStrik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en-US" alt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Create, Read, Update, and Delete records. </a:t>
            </a:r>
            <a:endParaRPr lang="en-US" sz="2200" b="0" u="none" strike="noStrik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7686270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586309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091652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Database Design</a:t>
            </a:r>
          </a:p>
        </p:txBody>
      </p:sp>
      <p:sp>
        <p:nvSpPr>
          <p:cNvPr id="1038672118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5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 Tables</a:t>
            </a:r>
            <a:r>
              <a:rPr lang="en-US" sz="2200" dirty="0">
                <a:solidFill>
                  <a:schemeClr val="dk1"/>
                </a:solidFill>
                <a:latin typeface="Calibri"/>
              </a:rPr>
              <a:t>: Users, Doctors, Appointments</a:t>
            </a: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5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 Primary &amp; Foreign Keys: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table has a unique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the Primary Key,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ID</a:t>
            </a:r>
          </a:p>
          <a:p>
            <a:pPr defTabSz="457200">
              <a:lnSpc>
                <a:spcPct val="150000"/>
              </a:lnSpc>
              <a:spcBef>
                <a:spcPts val="439"/>
              </a:spcBef>
              <a:buClr>
                <a:srgbClr val="000000"/>
              </a:buClr>
              <a:defRPr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 as an foreign key</a:t>
            </a:r>
            <a:endParaRPr lang="en-US" sz="2200" b="0" u="none" strike="noStrik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3080" indent="-343080" defTabSz="457200">
              <a:lnSpc>
                <a:spcPct val="15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 Constraints: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KEY, FOREIGN KEY</a:t>
            </a:r>
            <a:endParaRPr lang="en-US" sz="2200" u="none" strike="noStrik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1401203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968392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722065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ER Diagram</a:t>
            </a:r>
          </a:p>
        </p:txBody>
      </p:sp>
      <p:sp>
        <p:nvSpPr>
          <p:cNvPr id="204290018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defRPr/>
            </a:pP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5207930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573032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0945CD-A0C1-3EF5-6414-A8D2880698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268760"/>
            <a:ext cx="11737304" cy="558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607409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 dirty="0">
                <a:solidFill>
                  <a:schemeClr val="dk1"/>
                </a:solidFill>
                <a:latin typeface="Calibri"/>
              </a:rPr>
              <a:t>DFD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94199FB-4643-66B3-9CD1-D1CABA669C77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51584" y="1403592"/>
            <a:ext cx="7662414" cy="506211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8115183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158431" name="Picture 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61CF0-F80C-45C1-8933-058CB712C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022" y="346348"/>
            <a:ext cx="9247956" cy="61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7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472966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Modules &amp; Features</a:t>
            </a:r>
          </a:p>
        </p:txBody>
      </p:sp>
      <p:sp>
        <p:nvSpPr>
          <p:cNvPr id="1746407050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User Authentication Module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User Management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Doctor Management 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Appointment Booking 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Profile Management Module</a:t>
            </a:r>
            <a:endParaRPr lang="en-US" sz="2200" b="0" u="none" strike="noStrike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8553834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687488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15014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Challenges &amp; Learning</a:t>
            </a:r>
          </a:p>
        </p:txBody>
      </p:sp>
      <p:sp>
        <p:nvSpPr>
          <p:cNvPr id="781883548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solidFill>
                  <a:schemeClr val="dk1"/>
                </a:solidFill>
                <a:latin typeface="Calibri"/>
              </a:rPr>
              <a:t>Login Failure Bug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bookings and user roles</a:t>
            </a: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Performing CRUD operations efficiently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PHP &amp; MySQL skills</a:t>
            </a:r>
          </a:p>
        </p:txBody>
      </p:sp>
      <p:pic>
        <p:nvPicPr>
          <p:cNvPr id="2081269629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050750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014420" name="PlaceHolder 1"/>
          <p:cNvSpPr>
            <a:spLocks noGrp="1"/>
          </p:cNvSpPr>
          <p:nvPr>
            <p:ph type="title"/>
          </p:nvPr>
        </p:nvSpPr>
        <p:spPr bwMode="auto">
          <a:xfrm>
            <a:off x="609600" y="274680"/>
            <a:ext cx="10972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Calibri"/>
              </a:rPr>
              <a:t>References</a:t>
            </a:r>
          </a:p>
        </p:txBody>
      </p:sp>
      <p:sp>
        <p:nvSpPr>
          <p:cNvPr id="115995845" name="PlaceHolder 2"/>
          <p:cNvSpPr>
            <a:spLocks noGrp="1"/>
          </p:cNvSpPr>
          <p:nvPr>
            <p:ph/>
          </p:nvPr>
        </p:nvSpPr>
        <p:spPr bwMode="auto">
          <a:xfrm>
            <a:off x="609600" y="1600200"/>
            <a:ext cx="10972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PHP Official Documentation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MySQL Documentation</a:t>
            </a:r>
            <a:endParaRPr lang="en-US" sz="2200" dirty="0">
              <a:solidFill>
                <a:schemeClr val="dk1"/>
              </a:solidFill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Bootstrap 5 Documentation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dirty="0"/>
              <a:t>YouTub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</a:p>
          <a:p>
            <a:pPr marL="343080" indent="-34308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200" b="0" u="none" strike="noStrike" dirty="0">
                <a:solidFill>
                  <a:schemeClr val="dk1"/>
                </a:solidFill>
                <a:latin typeface="Calibri"/>
              </a:rPr>
              <a:t>W3Schools</a:t>
            </a:r>
          </a:p>
        </p:txBody>
      </p:sp>
      <p:pic>
        <p:nvPicPr>
          <p:cNvPr id="767375963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7997" y="173072"/>
            <a:ext cx="2146297" cy="71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7540094" name="Pictur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1801" y="259431"/>
            <a:ext cx="2323252" cy="5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71E506-B9DD-8D43-6817-07892D5F64BF}"/>
              </a:ext>
            </a:extLst>
          </p:cNvPr>
          <p:cNvSpPr txBox="1"/>
          <p:nvPr/>
        </p:nvSpPr>
        <p:spPr>
          <a:xfrm>
            <a:off x="4871864" y="3044279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0" u="none" strike="noStrike" dirty="0">
                <a:solidFill>
                  <a:schemeClr val="dk1"/>
                </a:solidFill>
                <a:latin typeface="Calibri"/>
              </a:rPr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90335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348</Words>
  <Application>Microsoft Office PowerPoint</Application>
  <PresentationFormat>Widescreen</PresentationFormat>
  <Paragraphs>77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Blank</vt:lpstr>
      <vt:lpstr>PowerPoint Presentation</vt:lpstr>
      <vt:lpstr> Team Information</vt:lpstr>
      <vt:lpstr>Problem Statement</vt:lpstr>
      <vt:lpstr> Proposed Solution: Overview</vt:lpstr>
      <vt:lpstr>Objectives</vt:lpstr>
      <vt:lpstr>Server Requirements</vt:lpstr>
      <vt:lpstr>Technology Stack</vt:lpstr>
      <vt:lpstr>End User Interface</vt:lpstr>
      <vt:lpstr>Admin Dashboard</vt:lpstr>
      <vt:lpstr>Database Design</vt:lpstr>
      <vt:lpstr>ER Diagram</vt:lpstr>
      <vt:lpstr>DFD</vt:lpstr>
      <vt:lpstr>PowerPoint Presentation</vt:lpstr>
      <vt:lpstr>Modules &amp; Features</vt:lpstr>
      <vt:lpstr>Challenges &amp; Learning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Sandip Limbasiya</cp:lastModifiedBy>
  <cp:revision>24</cp:revision>
  <dcterms:created xsi:type="dcterms:W3CDTF">2013-01-27T09:14:16Z</dcterms:created>
  <dcterms:modified xsi:type="dcterms:W3CDTF">2026-08-05T05:06:03Z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